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800" cy="43891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5A623"/>
                </a:solidFill>
                <a:latin typeface="Segoe UI Light"/>
              </a:defRPr>
            </a:pPr>
            <a:r>
              <a:t>V Y 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228600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 Light"/>
              </a:defRPr>
            </a:pPr>
            <a:r>
              <a:t>Çözümü Burada 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Segoe UI"/>
              </a:defRPr>
            </a:pPr>
            <a:r>
              <a:t>AI Destekli L1 Destek Platformu — Çağrı Merkezi Ekipleri İçin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108960"/>
            <a:ext cx="5029200" cy="29260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2918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  <a:r>
              <a:t>VYRA, çağrı merkezi operatörlerinin IT sorunlarını</a:t>
            </a:r>
          </a:p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  <a:r>
              <a:t>hızlı ve doğru şekilde çözmesini sağlayan yapay zeka</a:t>
            </a:r>
          </a:p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  <a:r>
              <a:t>destekli bir destek platformudur.</a:t>
            </a:r>
          </a:p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</a:p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  <a:r>
              <a:t>▸  Büyük Dil Modelleri (LLM) ile akıllı çözüm üretimi</a:t>
            </a:r>
          </a:p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  <a:r>
              <a:t>▸  RAG (Retrieval-Augmented Generation) ile bilgi tabanı</a:t>
            </a:r>
          </a:p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  <a:r>
              <a:t>▸  Gerçek zamanlı WebSocket bildirim sistemi</a:t>
            </a:r>
          </a:p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  <a:r>
              <a:t>▸  Çok kiracılı (Multi-Tenant) organizasyon izolasyonu</a:t>
            </a:r>
          </a:p>
          <a:p>
            <a:pPr>
              <a:lnSpc>
                <a:spcPts val="1800"/>
              </a:lnSpc>
              <a:spcAft>
                <a:spcPts val="480"/>
              </a:spcAft>
              <a:defRPr sz="1200">
                <a:solidFill>
                  <a:srgbClr val="B0B8C8"/>
                </a:solidFill>
                <a:latin typeface="Segoe UI"/>
              </a:defRPr>
            </a:pPr>
            <a:r>
              <a:t>▸  Kurumsal güvenlik altyapısı (JWT, Rate Limiting)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09728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⚡ HIZLI ÇÖZÜM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00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~10ms akıllı yönlendirme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Sub-saniye RAG arama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0.70+ skor → LLM bypass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09728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22D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AB"/>
                </a:solidFill>
                <a:latin typeface="Segoe UI"/>
              </a:defRPr>
            </a:pPr>
            <a:r>
              <a:t>🔒 GÜVENLİK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600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JWT Authentication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RBAC Yetkilendirme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API Rate Limiting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74320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🧠 YAPAY ZEKA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246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Multi-Model LLM Desteği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Deep Think Pipeline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Hybrid RAG (Semantic+BM25)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74320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Segoe UI"/>
              </a:defRPr>
            </a:pPr>
            <a:r>
              <a:t>🏗️ MİMARİ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246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FastAPI Backend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PostgreSQL v16+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>
                <a:solidFill>
                  <a:srgbClr val="B0B8C8"/>
                </a:solidFill>
                <a:latin typeface="Segoe UI"/>
              </a:defRPr>
            </a:pPr>
            <a:r>
              <a:t>Modüler SPA Frontend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572000"/>
            <a:ext cx="4663440" cy="12801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4663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Platform Versiyonu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Segoe UI Light"/>
              </a:defRPr>
            </a:pPr>
            <a:r>
              <a:t>v2.39.0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AB"/>
                </a:solidFill>
                <a:latin typeface="Segoe UI"/>
              </a:defRPr>
            </a:pPr>
            <a:r>
              <a:t>19 Test Dosyası</a:t>
            </a:r>
            <a:br/>
            <a:r>
              <a:t>42+ Test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VYRA — Çözümü Burada Ara  |  v2.39.0  |  Şubat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Gizlilik Seviyesi: Kurumsal İç Kullanım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Teknik Mimari &amp; Temel Özellikler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Segoe UI"/>
              </a:defRPr>
            </a:pPr>
            <a:r>
              <a:t>TEKNOLOJİ YIĞINI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800" cy="3474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FastAPI 0.104 · Python 3.10+ · Pydantic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0800" cy="347472"/>
          </a:xfrm>
          <a:prstGeom prst="rect">
            <a:avLst/>
          </a:prstGeom>
          <a:solidFill>
            <a:srgbClr val="22D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AB"/>
                </a:solidFill>
                <a:latin typeface="Segoe UI"/>
              </a:defRPr>
            </a:pPr>
            <a:r>
              <a:t>Veritabanı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PostgreSQL v16+ · Port 5005 · FLOAT[] Vektör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50800" cy="34747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Vanilla HTML/CSS/JS · SPA · Zero-CDN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0800" cy="3474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Segoe UI"/>
              </a:defRPr>
            </a:pPr>
            <a:r>
              <a:t>AI/ML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SentenceTransformer · CatBoost · NumPy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50800" cy="3474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İletişim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301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WebSocket · REST API · JWT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40"/>
            <a:ext cx="50800" cy="347472"/>
          </a:xfrm>
          <a:prstGeom prst="rect">
            <a:avLst/>
          </a:prstGeom>
          <a:solidFill>
            <a:srgbClr val="22D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AB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330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Docker · PowerShell Scripts · Pytest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Segoe UI"/>
              </a:defRPr>
            </a:pPr>
            <a:r>
              <a:t>TEMEL ÖZELLİKLER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417320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14904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Hybrid RAG Arama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7647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Semantic + BM25 + RRF fusion.</a:t>
            </a:r>
            <a:br/>
            <a:r>
              <a:t>Dosya başına max 2 sonuç izolasyonu.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2313432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2386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3865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Deep Think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6609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Intent-aware keyword scaling.</a:t>
            </a:r>
            <a:br/>
            <a:r>
              <a:t>Kategorize fallback UI.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3209544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3282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2826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Asenkron Dialog Sistemi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5570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Multi-turn konuşma motoru.</a:t>
            </a:r>
            <a:br/>
            <a:r>
              <a:t>WebSocket gerçek zamanlı bildirim.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4105656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41788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1788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Smart Doküman İşleme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44531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Excel merge-cell recovery.</a:t>
            </a:r>
            <a:br/>
            <a:r>
              <a:t>DOCX/PDF/PPTX/TXT semantic split.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5001768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5074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5074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Organizasyon İzolasyonu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Multi-tenant bilgi tabanı.</a:t>
            </a:r>
            <a:br/>
            <a:r>
              <a:t>Kullanıcı-bazlı erişim kontrolü.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Segoe UI"/>
              </a:defRPr>
            </a:pPr>
            <a:r>
              <a:t>PERFORMANS METRİKLERİ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1417320"/>
            <a:ext cx="30175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3960" y="1490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 Light"/>
              </a:defRPr>
            </a:pPr>
            <a:r>
              <a:t>~10ms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Smart Routing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1764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Keyword pre-check ile</a:t>
            </a:r>
            <a:br/>
            <a:r>
              <a:t>RAG bypass süresi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2313432"/>
            <a:ext cx="30175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22D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23960" y="23865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AB"/>
                </a:solidFill>
                <a:latin typeface="Segoe UI Light"/>
              </a:defRPr>
            </a:pPr>
            <a:r>
              <a:t>&lt;200ms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High-Score Response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26609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Skor ≥0.70 direkt yanıt</a:t>
            </a:r>
            <a:br/>
            <a:r>
              <a:t>(LLM bypass)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3209544"/>
            <a:ext cx="30175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32826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 Light"/>
              </a:defRPr>
            </a:pPr>
            <a:r>
              <a:t>&lt;1s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32826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RAG Arama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35570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NumPy cosine similarity</a:t>
            </a:r>
            <a:br/>
            <a:r>
              <a:t>In-memory vektör arama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0" y="4105656"/>
            <a:ext cx="30175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23960" y="4178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Segoe UI Light"/>
              </a:defRPr>
            </a:pPr>
            <a:r>
              <a:t>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0" y="4178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DB İndeksi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44531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11 tablo üzerinde</a:t>
            </a:r>
            <a:br/>
            <a:r>
              <a:t>performans indeksleri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0" y="5001768"/>
            <a:ext cx="3017520" cy="82296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23960" y="5074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 Light"/>
              </a:defRPr>
            </a:pPr>
            <a:r>
              <a:t>O(1)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5074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Sayfalama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Window function ile</a:t>
            </a:r>
            <a:br/>
            <a:r>
              <a:t>tek sorgu roundtrip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VYRA — Çözümü Burada Ara  |  v2.39.0  |  Şubat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Gizlilik Seviyesi: Kurumsal İç Kullanım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Modüler Yapı &amp; Güvenlik Altyapısı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Segoe UI"/>
              </a:defRPr>
            </a:pPr>
            <a:r>
              <a:t>BACKEND SERVİS HARİTASI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4389120" cy="8686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63500" cy="8686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API Layer (25 Route)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auth · dialog · RAG · tickets ·</a:t>
            </a:r>
            <a:br/>
            <a:r>
              <a:t>organizations · feedback ·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4389120" cy="8686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22D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63500" cy="868680"/>
          </a:xfrm>
          <a:prstGeom prst="rect">
            <a:avLst/>
          </a:prstGeom>
          <a:solidFill>
            <a:srgbClr val="22D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Core Engine (14 Modül)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config · db · cache · llm ·</a:t>
            </a:r>
            <a:br/>
            <a:r>
              <a:t>rag_router · websocket · rate_limiter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4389120" cy="8686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63500" cy="8686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107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Service Layer (15+ Servis)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dialog/* · rag/* · deep_think/* ·</a:t>
            </a:r>
            <a:br/>
            <a:r>
              <a:t>ticket · feedback · catboost ·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4389120" cy="8686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63500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708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Document Processors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4515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Excel v4.0 · DOCX v3.0 · PDF v2.0 ·</a:t>
            </a:r>
            <a:br/>
            <a:r>
              <a:t>PPTX v2.0 · TXT v2.0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051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Segoe UI"/>
              </a:defRPr>
            </a:pPr>
            <a:r>
              <a:t>FRONTEND MİMARİSİ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417320"/>
            <a:ext cx="3108960" cy="342900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15544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0"/>
              </a:lnSpc>
              <a:spcAft>
                <a:spcPts val="440"/>
              </a:spcAft>
              <a:defRPr sz="1100">
                <a:solidFill>
                  <a:srgbClr val="B0B8C8"/>
                </a:solidFill>
                <a:latin typeface="Segoe UI"/>
              </a:defRPr>
            </a:pPr>
            <a:r>
              <a:t>📄  3 Ana HTML Sayfası (Login, Home, Org)</a:t>
            </a:r>
          </a:p>
          <a:p>
            <a:pPr>
              <a:lnSpc>
                <a:spcPts val="1870"/>
              </a:lnSpc>
              <a:spcAft>
                <a:spcPts val="440"/>
              </a:spcAft>
              <a:defRPr sz="1100">
                <a:solidFill>
                  <a:srgbClr val="B0B8C8"/>
                </a:solidFill>
                <a:latin typeface="Segoe UI"/>
              </a:defRPr>
            </a:pPr>
            <a:r>
              <a:t>📦  18 JS Ana Modül + 30 Alt Modül</a:t>
            </a:r>
          </a:p>
          <a:p>
            <a:pPr>
              <a:lnSpc>
                <a:spcPts val="1870"/>
              </a:lnSpc>
              <a:spcAft>
                <a:spcPts val="440"/>
              </a:spcAft>
              <a:defRPr sz="1100">
                <a:solidFill>
                  <a:srgbClr val="B0B8C8"/>
                </a:solidFill>
                <a:latin typeface="Segoe UI"/>
              </a:defRPr>
            </a:pPr>
            <a:r>
              <a:t>🎨  15 CSS Dosyası + Modül Stilleri</a:t>
            </a:r>
          </a:p>
          <a:p>
            <a:pPr>
              <a:lnSpc>
                <a:spcPts val="1870"/>
              </a:lnSpc>
              <a:spcAft>
                <a:spcPts val="440"/>
              </a:spcAft>
              <a:defRPr sz="1100">
                <a:solidFill>
                  <a:srgbClr val="B0B8C8"/>
                </a:solidFill>
                <a:latin typeface="Segoe UI"/>
              </a:defRPr>
            </a:pPr>
            <a:r>
              <a:t>🔔  WebSocket Gerçek Zamanlı Push</a:t>
            </a:r>
          </a:p>
          <a:p>
            <a:pPr>
              <a:lnSpc>
                <a:spcPts val="1870"/>
              </a:lnSpc>
              <a:spcAft>
                <a:spcPts val="440"/>
              </a:spcAft>
              <a:defRPr sz="1100">
                <a:solidFill>
                  <a:srgbClr val="B0B8C8"/>
                </a:solidFill>
                <a:latin typeface="Segoe UI"/>
              </a:defRPr>
            </a:pPr>
            <a:r>
              <a:t>💾  localStorage Session Persistence</a:t>
            </a:r>
          </a:p>
          <a:p>
            <a:pPr>
              <a:lnSpc>
                <a:spcPts val="1870"/>
              </a:lnSpc>
              <a:spcAft>
                <a:spcPts val="440"/>
              </a:spcAft>
              <a:defRPr sz="1100">
                <a:solidFill>
                  <a:srgbClr val="B0B8C8"/>
                </a:solidFill>
                <a:latin typeface="Segoe UI"/>
              </a:defRPr>
            </a:pPr>
            <a:r>
              <a:t>🖼️  FontAwesome 6.5.2 (Lokal CDN-siz)</a:t>
            </a:r>
          </a:p>
          <a:p>
            <a:pPr>
              <a:lnSpc>
                <a:spcPts val="1870"/>
              </a:lnSpc>
              <a:spcAft>
                <a:spcPts val="440"/>
              </a:spcAft>
              <a:defRPr sz="1100">
                <a:solidFill>
                  <a:srgbClr val="B0B8C8"/>
                </a:solidFill>
                <a:latin typeface="Segoe UI"/>
              </a:defRPr>
            </a:pPr>
            <a:r>
              <a:t>📱  Responsive SPA Tasarım</a:t>
            </a:r>
          </a:p>
          <a:p>
            <a:pPr>
              <a:lnSpc>
                <a:spcPts val="1870"/>
              </a:lnSpc>
              <a:spcAft>
                <a:spcPts val="440"/>
              </a:spcAft>
              <a:defRPr sz="1100">
                <a:solidFill>
                  <a:srgbClr val="B0B8C8"/>
                </a:solidFill>
                <a:latin typeface="Segoe UI"/>
              </a:defRPr>
            </a:pPr>
            <a:r>
              <a:t>🔄  Cache Busting (?v= parametresi)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1051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Segoe UI"/>
              </a:defRPr>
            </a:pPr>
            <a:r>
              <a:t>GÜVENLİK KATMANLARI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1417320"/>
            <a:ext cx="3017520" cy="80467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490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🔐  JWT 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HS256 · 32+ karakter · Startup</a:t>
            </a:r>
            <a:br/>
            <a:r>
              <a:t>validation · Refresh token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2286000"/>
            <a:ext cx="3017520" cy="80467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22D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👥  RBAC Yetkilendirme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roles + role_permissions</a:t>
            </a:r>
            <a:br/>
            <a:r>
              <a:t>tabloları · Kaynak-bazlı izin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154680"/>
            <a:ext cx="3017520" cy="80467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32278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🛡️  API Rate Limiting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slowapi · Multi-tier IP tanıma</a:t>
            </a:r>
            <a:br/>
            <a:r>
              <a:t>X-Forwarded-For fallback zinciri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023360"/>
            <a:ext cx="3017520" cy="80467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0965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🏢  Org İzolasyonu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Segoe UI"/>
              </a:defRPr>
            </a:pPr>
            <a:r>
              <a:t>Multi-tenant sınır kontrolü</a:t>
            </a:r>
            <a:br/>
            <a:r>
              <a:t>RAG search-level enforcement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Test</a:t>
            </a:r>
            <a:br/>
            <a:r>
              <a:t>Dosyası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  <a:latin typeface="Segoe UI"/>
              </a:defRPr>
            </a:pPr>
            <a:r>
              <a:t>42+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Test</a:t>
            </a:r>
            <a:br/>
            <a:r>
              <a:t>Case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  <a:latin typeface="Segoe UI"/>
              </a:defRPr>
            </a:pPr>
            <a:r>
              <a:t>30+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SSS</a:t>
            </a:r>
            <a:br/>
            <a:r>
              <a:t>Dokümanı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Konteyner</a:t>
            </a:r>
            <a:br/>
            <a:r>
              <a:t>Desteği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  <a:latin typeface="Segoe UI"/>
              </a:defRPr>
            </a:pPr>
            <a:r>
              <a:t>Semantic</a:t>
            </a:r>
            <a:br/>
            <a:r>
              <a:t>Versioning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Versiyon</a:t>
            </a:r>
            <a:br/>
            <a:r>
              <a:t>Yönetimi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  <a:latin typeface="Segoe UI"/>
              </a:defRPr>
            </a:pPr>
            <a:r>
              <a:t>Backup</a:t>
            </a:r>
            <a:br/>
            <a:r>
              <a:t>Scripts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Segoe UI"/>
              </a:defRPr>
            </a:pPr>
            <a:r>
              <a:t>DB Yedekleme</a:t>
            </a:r>
            <a:br/>
            <a:r>
              <a:t>Otomasyonu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VYRA — Çözümü Burada Ara  |  v2.39.0  |  Şubat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Gizlilik Seviyesi: Kurumsal İç Kullanım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